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6.png" Type="http://schemas.openxmlformats.org/officeDocument/2006/relationships/image"/><Relationship Id="rId8" Target="../media/image2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16.png" Type="http://schemas.openxmlformats.org/officeDocument/2006/relationships/image"/><Relationship Id="rId6" Target="../media/image12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467840">
            <a:off x="14190688" y="1778317"/>
            <a:ext cx="1382354" cy="0"/>
          </a:xfrm>
          <a:prstGeom prst="line">
            <a:avLst/>
          </a:prstGeom>
          <a:ln cap="rnd" w="9525">
            <a:solidFill>
              <a:srgbClr val="3E5C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4126800">
            <a:off x="15103507" y="1503998"/>
            <a:ext cx="1202636" cy="0"/>
          </a:xfrm>
          <a:prstGeom prst="line">
            <a:avLst/>
          </a:prstGeom>
          <a:ln cap="rnd" w="9525">
            <a:solidFill>
              <a:srgbClr val="3E5C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59760">
            <a:off x="15482954" y="2121217"/>
            <a:ext cx="1541002" cy="0"/>
          </a:xfrm>
          <a:prstGeom prst="line">
            <a:avLst/>
          </a:prstGeom>
          <a:ln cap="rnd" w="9525">
            <a:solidFill>
              <a:srgbClr val="3E5C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47720">
            <a:off x="15082133" y="2464117"/>
            <a:ext cx="847601" cy="0"/>
          </a:xfrm>
          <a:prstGeom prst="line">
            <a:avLst/>
          </a:prstGeom>
          <a:ln cap="rnd" w="9525">
            <a:solidFill>
              <a:srgbClr val="3E5C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032680">
            <a:off x="13670528" y="2601278"/>
            <a:ext cx="2011185" cy="0"/>
          </a:xfrm>
          <a:prstGeom prst="line">
            <a:avLst/>
          </a:prstGeom>
          <a:ln cap="rnd" w="9525">
            <a:solidFill>
              <a:srgbClr val="3E5C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141196" y="1385316"/>
            <a:ext cx="246888" cy="246888"/>
            <a:chOff x="0" y="0"/>
            <a:chExt cx="329184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87116" y="836676"/>
            <a:ext cx="246888" cy="246888"/>
            <a:chOff x="0" y="0"/>
            <a:chExt cx="329184" cy="329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84396" y="2071116"/>
            <a:ext cx="246888" cy="246888"/>
            <a:chOff x="0" y="0"/>
            <a:chExt cx="329184" cy="3291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5636" y="2756916"/>
            <a:ext cx="246888" cy="246888"/>
            <a:chOff x="0" y="0"/>
            <a:chExt cx="329184" cy="32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9716" y="3031236"/>
            <a:ext cx="246888" cy="246888"/>
            <a:chOff x="0" y="0"/>
            <a:chExt cx="329184" cy="329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307056" y="1865376"/>
            <a:ext cx="384048" cy="384048"/>
            <a:chOff x="0" y="0"/>
            <a:chExt cx="512064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960120"/>
            <a:ext cx="13716000" cy="480060"/>
            <a:chOff x="0" y="0"/>
            <a:chExt cx="182880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225">
                  <a:solidFill>
                    <a:srgbClr val="AF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NETWORKS PROJECT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2948940"/>
            <a:ext cx="14813280" cy="2468880"/>
            <a:chOff x="0" y="0"/>
            <a:chExt cx="19751040" cy="3291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7510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97510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4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Educational (College)</a:t>
              </a:r>
            </a:p>
            <a:p>
              <a:pPr algn="l">
                <a:lnSpc>
                  <a:spcPts val="8164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Management System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120" y="5417820"/>
            <a:ext cx="14401800" cy="685800"/>
            <a:chOff x="0" y="0"/>
            <a:chExt cx="19202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Computer Network Based Client–Server Management System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10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859" y="-768015"/>
            <a:ext cx="8435340" cy="3593431"/>
            <a:chOff x="0" y="0"/>
            <a:chExt cx="10424160" cy="444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24161" cy="4440662"/>
            </a:xfrm>
            <a:custGeom>
              <a:avLst/>
              <a:gdLst/>
              <a:ahLst/>
              <a:cxnLst/>
              <a:rect r="r" b="b" t="t" l="l"/>
              <a:pathLst>
                <a:path h="4440662" w="10424161">
                  <a:moveTo>
                    <a:pt x="0" y="0"/>
                  </a:moveTo>
                  <a:lnTo>
                    <a:pt x="10424161" y="0"/>
                  </a:lnTo>
                  <a:lnTo>
                    <a:pt x="10424161" y="4440662"/>
                  </a:lnTo>
                  <a:lnTo>
                    <a:pt x="0" y="4440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" r="-112280" b="-115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424160" cy="4450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 &amp; Background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859" y="982059"/>
            <a:ext cx="7680960" cy="2927001"/>
            <a:chOff x="0" y="0"/>
            <a:chExt cx="10241280" cy="3902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3902668"/>
            </a:xfrm>
            <a:custGeom>
              <a:avLst/>
              <a:gdLst/>
              <a:ahLst/>
              <a:cxnLst/>
              <a:rect r="r" b="b" t="t" l="l"/>
              <a:pathLst>
                <a:path h="39026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0" r="0" b="3949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241280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Challenges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4859" y="3200400"/>
            <a:ext cx="7818120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information is handled by multiple departments and user groups</a:t>
            </a:r>
          </a:p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Data may be distributed across different systems or terminals</a:t>
            </a:r>
          </a:p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information exchange can cause delays and duplication</a:t>
            </a:r>
          </a:p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Students, faculty, parents and administration need different information</a:t>
            </a:r>
          </a:p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Different users require different levels of access</a:t>
            </a:r>
          </a:p>
          <a:p>
            <a:pPr algn="l" marL="520299" indent="-260149" lvl="1">
              <a:lnSpc>
                <a:spcPts val="3449"/>
              </a:lnSpc>
              <a:buFont typeface="Arial"/>
              <a:buChar char="•"/>
            </a:pPr>
            <a:r>
              <a:rPr lang="en-US" sz="2874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sharing requires reliable network communication</a:t>
            </a:r>
          </a:p>
        </p:txBody>
      </p:sp>
      <p:sp>
        <p:nvSpPr>
          <p:cNvPr name="AutoShape 9" id="9"/>
          <p:cNvSpPr/>
          <p:nvPr/>
        </p:nvSpPr>
        <p:spPr>
          <a:xfrm rot="5390760">
            <a:off x="5442575" y="5653088"/>
            <a:ext cx="7082819" cy="0"/>
          </a:xfrm>
          <a:prstGeom prst="line">
            <a:avLst/>
          </a:prstGeom>
          <a:ln cap="rnd" w="9525">
            <a:solidFill>
              <a:srgbClr val="D8E2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189720" y="982059"/>
            <a:ext cx="7955280" cy="2927001"/>
            <a:chOff x="0" y="0"/>
            <a:chExt cx="10607040" cy="3902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3902668"/>
            </a:xfrm>
            <a:custGeom>
              <a:avLst/>
              <a:gdLst/>
              <a:ahLst/>
              <a:cxnLst/>
              <a:rect r="r" b="b" t="t" l="l"/>
              <a:pathLst>
                <a:path h="39026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" r="0" b="376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607040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Idea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58300" y="3018625"/>
            <a:ext cx="77724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 centralized Educational Management System in which multiple authorized users communicate with a central server through a computer network.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00" y="4732020"/>
            <a:ext cx="7955280" cy="797272"/>
            <a:chOff x="0" y="0"/>
            <a:chExt cx="10607040" cy="10630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1063029"/>
            </a:xfrm>
            <a:custGeom>
              <a:avLst/>
              <a:gdLst/>
              <a:ahLst/>
              <a:cxnLst/>
              <a:rect r="r" b="b" t="t" l="l"/>
              <a:pathLst>
                <a:path h="1063029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3029"/>
                  </a:lnTo>
                  <a:lnTo>
                    <a:pt x="0" y="10630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18" r="0" b="-1202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0607040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server manages: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89720" y="5548313"/>
            <a:ext cx="795528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User requests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Data access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sharing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 between clients and the database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 &amp; Project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659636"/>
            <a:ext cx="7955280" cy="7132320"/>
            <a:chOff x="0" y="0"/>
            <a:chExt cx="10607040" cy="9509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0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607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9363456"/>
                  </a:lnTo>
                  <a:cubicBezTo>
                    <a:pt x="10607040" y="9444228"/>
                    <a:pt x="10541508" y="9509761"/>
                    <a:pt x="10460736" y="9509761"/>
                  </a:cubicBezTo>
                  <a:lnTo>
                    <a:pt x="146304" y="9509761"/>
                  </a:lnTo>
                  <a:cubicBezTo>
                    <a:pt x="65532" y="9509760"/>
                    <a:pt x="0" y="9444228"/>
                    <a:pt x="0" y="936345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142539"/>
            <a:ext cx="6995160" cy="2927001"/>
            <a:chOff x="0" y="0"/>
            <a:chExt cx="9326880" cy="39026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3902668"/>
            </a:xfrm>
            <a:custGeom>
              <a:avLst/>
              <a:gdLst/>
              <a:ahLst/>
              <a:cxnLst/>
              <a:rect r="r" b="b" t="t" l="l"/>
              <a:pathLst>
                <a:path h="3902668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94" r="0" b="440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26880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329062"/>
            <a:ext cx="6995160" cy="1814438"/>
            <a:chOff x="0" y="0"/>
            <a:chExt cx="9326880" cy="2419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6880" cy="2419251"/>
            </a:xfrm>
            <a:custGeom>
              <a:avLst/>
              <a:gdLst/>
              <a:ahLst/>
              <a:cxnLst/>
              <a:rect r="r" b="b" t="t" l="l"/>
              <a:pathLst>
                <a:path h="2419251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2" r="0" b="-72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9326880" cy="2485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college contains multiple stakeholders who need access to academic and administrative information. Without a properly networked, centralized system: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5489067"/>
            <a:ext cx="699516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can become fragmented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 between departments can be inefficient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copies of data may exist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control becomes difficult</a:t>
            </a: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information sharing becomes challenging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64040" y="828098"/>
            <a:ext cx="8229600" cy="2927001"/>
            <a:chOff x="0" y="0"/>
            <a:chExt cx="10972800" cy="39026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3902668"/>
            </a:xfrm>
            <a:custGeom>
              <a:avLst/>
              <a:gdLst/>
              <a:ahLst/>
              <a:cxnLst/>
              <a:rect r="r" b="b" t="t" l="l"/>
              <a:pathLst>
                <a:path h="39026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12" r="0" b="358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972800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Objectives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74886" y="2899188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64040" y="2988342"/>
            <a:ext cx="507492" cy="507492"/>
            <a:chOff x="0" y="0"/>
            <a:chExt cx="676656" cy="676656"/>
          </a:xfrm>
        </p:grpSpPr>
        <p:sp>
          <p:nvSpPr>
            <p:cNvPr name="Freeform 20" id="20" descr="icons/layer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97846" y="2863916"/>
            <a:ext cx="7338060" cy="685800"/>
            <a:chOff x="0" y="0"/>
            <a:chExt cx="97840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7840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 centralized college management system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74886" y="3969036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64040" y="4058190"/>
            <a:ext cx="507492" cy="507492"/>
            <a:chOff x="0" y="0"/>
            <a:chExt cx="676656" cy="676656"/>
          </a:xfrm>
        </p:grpSpPr>
        <p:sp>
          <p:nvSpPr>
            <p:cNvPr name="Freeform 27" id="27" descr="icons/network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197846" y="3907499"/>
            <a:ext cx="7338060" cy="976238"/>
            <a:chOff x="0" y="0"/>
            <a:chExt cx="9784080" cy="13016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84080" cy="1301651"/>
            </a:xfrm>
            <a:custGeom>
              <a:avLst/>
              <a:gdLst/>
              <a:ahLst/>
              <a:cxnLst/>
              <a:rect r="r" b="b" t="t" l="l"/>
              <a:pathLst>
                <a:path h="1301651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01651"/>
                  </a:lnTo>
                  <a:lnTo>
                    <a:pt x="0" y="13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338" r="0" b="-815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784080" cy="1368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multiple user terminals through a network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74886" y="5038884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64040" y="5128038"/>
            <a:ext cx="507492" cy="507492"/>
            <a:chOff x="0" y="0"/>
            <a:chExt cx="676656" cy="676656"/>
          </a:xfrm>
        </p:grpSpPr>
        <p:sp>
          <p:nvSpPr>
            <p:cNvPr name="Freeform 34" id="34" descr="icons/exchange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97846" y="5021248"/>
            <a:ext cx="7338060" cy="685800"/>
            <a:chOff x="0" y="0"/>
            <a:chExt cx="978408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840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 client–server communication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74886" y="6108732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64040" y="6197886"/>
            <a:ext cx="507492" cy="507492"/>
            <a:chOff x="0" y="0"/>
            <a:chExt cx="676656" cy="676656"/>
          </a:xfrm>
        </p:grpSpPr>
        <p:sp>
          <p:nvSpPr>
            <p:cNvPr name="Freeform 41" id="41" descr="icons/usershield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66426" y="6108732"/>
            <a:ext cx="7338060" cy="685800"/>
            <a:chOff x="0" y="0"/>
            <a:chExt cx="978408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8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97840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controlled access based on user roles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74886" y="7178580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7267734"/>
            <a:ext cx="507492" cy="507492"/>
            <a:chOff x="0" y="0"/>
            <a:chExt cx="676656" cy="676656"/>
          </a:xfrm>
        </p:grpSpPr>
        <p:sp>
          <p:nvSpPr>
            <p:cNvPr name="Freeform 48" id="48" descr="icons/database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66426" y="7033361"/>
            <a:ext cx="7338060" cy="976238"/>
            <a:chOff x="0" y="0"/>
            <a:chExt cx="9784080" cy="13016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84080" cy="1301651"/>
            </a:xfrm>
            <a:custGeom>
              <a:avLst/>
              <a:gdLst/>
              <a:ahLst/>
              <a:cxnLst/>
              <a:rect r="r" b="b" t="t" l="l"/>
              <a:pathLst>
                <a:path h="1301651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01651"/>
                  </a:lnTo>
                  <a:lnTo>
                    <a:pt x="0" y="13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338" r="0" b="-815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784080" cy="1368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centralized storage and retrieval of information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74886" y="8248428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64040" y="8337582"/>
            <a:ext cx="507492" cy="507492"/>
            <a:chOff x="0" y="0"/>
            <a:chExt cx="676656" cy="676656"/>
          </a:xfrm>
        </p:grpSpPr>
        <p:sp>
          <p:nvSpPr>
            <p:cNvPr name="Freeform 55" id="55" descr="icons/check_white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66426" y="8142949"/>
            <a:ext cx="7338060" cy="976238"/>
            <a:chOff x="0" y="0"/>
            <a:chExt cx="9784080" cy="13016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84080" cy="1301651"/>
            </a:xfrm>
            <a:custGeom>
              <a:avLst/>
              <a:gdLst/>
              <a:ahLst/>
              <a:cxnLst/>
              <a:rect r="r" b="b" t="t" l="l"/>
              <a:pathLst>
                <a:path h="1301651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01651"/>
                  </a:lnTo>
                  <a:lnTo>
                    <a:pt x="0" y="13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338" r="0" b="-8158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784080" cy="1368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 practical application of Computer Networks concepts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06640" y="5074920"/>
            <a:ext cx="3429000" cy="1234440"/>
            <a:chOff x="0" y="0"/>
            <a:chExt cx="45720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425696" y="0"/>
                  </a:lnTo>
                  <a:cubicBezTo>
                    <a:pt x="4506468" y="0"/>
                    <a:pt x="4572000" y="65532"/>
                    <a:pt x="4572000" y="146304"/>
                  </a:cubicBezTo>
                  <a:lnTo>
                    <a:pt x="4572000" y="1499616"/>
                  </a:lnTo>
                  <a:cubicBezTo>
                    <a:pt x="4572000" y="1580388"/>
                    <a:pt x="4506468" y="1645920"/>
                    <a:pt x="442569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612380" y="5349240"/>
            <a:ext cx="685800" cy="685800"/>
            <a:chOff x="0" y="0"/>
            <a:chExt cx="914400" cy="914400"/>
          </a:xfrm>
        </p:grpSpPr>
        <p:sp>
          <p:nvSpPr>
            <p:cNvPr name="Freeform 8" id="8" descr="icons/server_whit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98180" y="5074920"/>
            <a:ext cx="2400300" cy="1234440"/>
            <a:chOff x="0" y="0"/>
            <a:chExt cx="32004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0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200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 SERVER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2075" y="2185035"/>
            <a:ext cx="2762250" cy="1390650"/>
            <a:chOff x="0" y="0"/>
            <a:chExt cx="3683000" cy="1854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83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6830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534664" y="0"/>
                  </a:lnTo>
                  <a:cubicBezTo>
                    <a:pt x="3616579" y="0"/>
                    <a:pt x="3683000" y="66421"/>
                    <a:pt x="3683000" y="148336"/>
                  </a:cubicBezTo>
                  <a:lnTo>
                    <a:pt x="3683000" y="1705864"/>
                  </a:lnTo>
                  <a:cubicBezTo>
                    <a:pt x="3683000" y="1787779"/>
                    <a:pt x="3616579" y="1854200"/>
                    <a:pt x="353466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E6F1F5"/>
            </a:solidFill>
            <a:ln w="19050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36192" y="2468880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3177" y="2575865"/>
            <a:ext cx="608990" cy="608990"/>
            <a:chOff x="0" y="0"/>
            <a:chExt cx="811987" cy="811987"/>
          </a:xfrm>
        </p:grpSpPr>
        <p:sp>
          <p:nvSpPr>
            <p:cNvPr name="Freeform 17" id="17" descr="icons/student_whit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468880" y="2194560"/>
            <a:ext cx="1508760" cy="1371600"/>
            <a:chOff x="0" y="0"/>
            <a:chExt cx="201168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116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2433060">
            <a:off x="3572599" y="4276725"/>
            <a:ext cx="4376242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55115" y="2185035"/>
            <a:ext cx="2762250" cy="1390650"/>
            <a:chOff x="0" y="0"/>
            <a:chExt cx="3683000" cy="1854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83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6830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534664" y="0"/>
                  </a:lnTo>
                  <a:cubicBezTo>
                    <a:pt x="3616579" y="0"/>
                    <a:pt x="3683000" y="66421"/>
                    <a:pt x="3683000" y="148336"/>
                  </a:cubicBezTo>
                  <a:lnTo>
                    <a:pt x="3683000" y="1705864"/>
                  </a:lnTo>
                  <a:cubicBezTo>
                    <a:pt x="3683000" y="1787779"/>
                    <a:pt x="3616579" y="1854200"/>
                    <a:pt x="353466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E6F1F5"/>
            </a:solidFill>
            <a:ln w="19050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429232" y="2468880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536217" y="2575865"/>
            <a:ext cx="608990" cy="608990"/>
            <a:chOff x="0" y="0"/>
            <a:chExt cx="811987" cy="811987"/>
          </a:xfrm>
        </p:grpSpPr>
        <p:sp>
          <p:nvSpPr>
            <p:cNvPr name="Freeform 27" id="27" descr="icons/faculty_whit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361920" y="2194560"/>
            <a:ext cx="1508760" cy="1371600"/>
            <a:chOff x="0" y="0"/>
            <a:chExt cx="201168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116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Faculty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3921740" y="4396264"/>
            <a:ext cx="3089578" cy="2507931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362075" y="7671435"/>
            <a:ext cx="2762250" cy="1390650"/>
            <a:chOff x="0" y="0"/>
            <a:chExt cx="3683000" cy="1854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83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6830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534664" y="0"/>
                  </a:lnTo>
                  <a:cubicBezTo>
                    <a:pt x="3616579" y="0"/>
                    <a:pt x="3683000" y="66421"/>
                    <a:pt x="3683000" y="148336"/>
                  </a:cubicBezTo>
                  <a:lnTo>
                    <a:pt x="3683000" y="1705864"/>
                  </a:lnTo>
                  <a:cubicBezTo>
                    <a:pt x="3683000" y="1787779"/>
                    <a:pt x="3616579" y="1854200"/>
                    <a:pt x="353466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E6F1F5"/>
            </a:solidFill>
            <a:ln w="19050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36192" y="7955280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43177" y="8062265"/>
            <a:ext cx="608990" cy="608990"/>
            <a:chOff x="0" y="0"/>
            <a:chExt cx="811987" cy="811987"/>
          </a:xfrm>
        </p:grpSpPr>
        <p:sp>
          <p:nvSpPr>
            <p:cNvPr name="Freeform 37" id="37" descr="icons/parent_whit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68880" y="7680960"/>
            <a:ext cx="1508760" cy="1371600"/>
            <a:chOff x="0" y="0"/>
            <a:chExt cx="201168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1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116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Parent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2349540">
            <a:off x="3616547" y="7019925"/>
            <a:ext cx="4288336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4255115" y="7671435"/>
            <a:ext cx="2762250" cy="1390650"/>
            <a:chOff x="0" y="0"/>
            <a:chExt cx="3683000" cy="1854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83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6830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534664" y="0"/>
                  </a:lnTo>
                  <a:cubicBezTo>
                    <a:pt x="3616579" y="0"/>
                    <a:pt x="3683000" y="66421"/>
                    <a:pt x="3683000" y="148336"/>
                  </a:cubicBezTo>
                  <a:lnTo>
                    <a:pt x="3683000" y="1705864"/>
                  </a:lnTo>
                  <a:cubicBezTo>
                    <a:pt x="3683000" y="1787779"/>
                    <a:pt x="3616579" y="1854200"/>
                    <a:pt x="353466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E6F1F5"/>
            </a:solidFill>
            <a:ln w="19050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429232" y="7955280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536217" y="8062265"/>
            <a:ext cx="608990" cy="608990"/>
            <a:chOff x="0" y="0"/>
            <a:chExt cx="811987" cy="811987"/>
          </a:xfrm>
        </p:grpSpPr>
        <p:sp>
          <p:nvSpPr>
            <p:cNvPr name="Freeform 47" id="47" descr="icons/admin_whit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6" b="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361920" y="7680960"/>
            <a:ext cx="1508760" cy="1371600"/>
            <a:chOff x="0" y="0"/>
            <a:chExt cx="2011680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11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0116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/ Office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2281800">
            <a:off x="10352370" y="7019925"/>
            <a:ext cx="4395549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7749540" y="7269480"/>
            <a:ext cx="2743200" cy="1165860"/>
            <a:chOff x="0" y="0"/>
            <a:chExt cx="3657600" cy="1554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511296" y="0"/>
                  </a:lnTo>
                  <a:cubicBezTo>
                    <a:pt x="3592068" y="0"/>
                    <a:pt x="3657600" y="65532"/>
                    <a:pt x="3657600" y="146304"/>
                  </a:cubicBezTo>
                  <a:lnTo>
                    <a:pt x="3657600" y="1408176"/>
                  </a:lnTo>
                  <a:cubicBezTo>
                    <a:pt x="3657600" y="1488948"/>
                    <a:pt x="3592068" y="1554480"/>
                    <a:pt x="35112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955280" y="7447788"/>
            <a:ext cx="754380" cy="754380"/>
            <a:chOff x="0" y="0"/>
            <a:chExt cx="1005840" cy="1005840"/>
          </a:xfrm>
        </p:grpSpPr>
        <p:sp>
          <p:nvSpPr>
            <p:cNvPr name="Freeform 55" id="55" descr="icons/database_white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846820" y="7269480"/>
            <a:ext cx="1508760" cy="1165860"/>
            <a:chOff x="0" y="0"/>
            <a:chExt cx="2011680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1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143" t="0" r="-4914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0116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</a:t>
              </a:r>
            </a:p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4957260">
            <a:off x="8652434" y="6745605"/>
            <a:ext cx="937403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5959316" y="3490436"/>
            <a:ext cx="2551748" cy="905827"/>
            <a:chOff x="0" y="0"/>
            <a:chExt cx="3402330" cy="12077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02330" cy="1207770"/>
            </a:xfrm>
            <a:custGeom>
              <a:avLst/>
              <a:gdLst/>
              <a:ahLst/>
              <a:cxnLst/>
              <a:rect r="r" b="b" t="t" l="l"/>
              <a:pathLst>
                <a:path h="1207770" w="340233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3290824" y="0"/>
                  </a:lnTo>
                  <a:cubicBezTo>
                    <a:pt x="3352419" y="0"/>
                    <a:pt x="3402330" y="49911"/>
                    <a:pt x="3402330" y="111506"/>
                  </a:cubicBezTo>
                  <a:lnTo>
                    <a:pt x="3402330" y="1096264"/>
                  </a:lnTo>
                  <a:cubicBezTo>
                    <a:pt x="3402330" y="1157859"/>
                    <a:pt x="3352419" y="1207770"/>
                    <a:pt x="329082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E7F6EA"/>
            </a:solidFill>
            <a:ln w="14288" cap="sq">
              <a:solidFill>
                <a:srgbClr val="2F9E4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131052" y="3675888"/>
            <a:ext cx="548640" cy="548640"/>
            <a:chOff x="0" y="0"/>
            <a:chExt cx="731520" cy="731520"/>
          </a:xfrm>
        </p:grpSpPr>
        <p:sp>
          <p:nvSpPr>
            <p:cNvPr name="Freeform 63" id="63" descr="icons/lock_deep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20840" y="3497580"/>
            <a:ext cx="1714500" cy="891540"/>
            <a:chOff x="0" y="0"/>
            <a:chExt cx="2286000" cy="1188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86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28600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/</a:t>
              </a:r>
            </a:p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348436" y="3490436"/>
            <a:ext cx="2551748" cy="905827"/>
            <a:chOff x="0" y="0"/>
            <a:chExt cx="3402330" cy="12077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02330" cy="1207770"/>
            </a:xfrm>
            <a:custGeom>
              <a:avLst/>
              <a:gdLst/>
              <a:ahLst/>
              <a:cxnLst/>
              <a:rect r="r" b="b" t="t" l="l"/>
              <a:pathLst>
                <a:path h="1207770" w="340233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3290824" y="0"/>
                  </a:lnTo>
                  <a:cubicBezTo>
                    <a:pt x="3352419" y="0"/>
                    <a:pt x="3402330" y="49911"/>
                    <a:pt x="3402330" y="111506"/>
                  </a:cubicBezTo>
                  <a:lnTo>
                    <a:pt x="3402330" y="1096264"/>
                  </a:lnTo>
                  <a:cubicBezTo>
                    <a:pt x="3402330" y="1157859"/>
                    <a:pt x="3352419" y="1207770"/>
                    <a:pt x="329082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E6F1F5"/>
            </a:solidFill>
            <a:ln w="14288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520172" y="3675888"/>
            <a:ext cx="548640" cy="548640"/>
            <a:chOff x="0" y="0"/>
            <a:chExt cx="731520" cy="731520"/>
          </a:xfrm>
        </p:grpSpPr>
        <p:sp>
          <p:nvSpPr>
            <p:cNvPr name="Freeform 70" id="70" descr="icons/bell_deep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109960" y="3497580"/>
            <a:ext cx="1714500" cy="891540"/>
            <a:chOff x="0" y="0"/>
            <a:chExt cx="2286000" cy="1188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86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28600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Services /</a:t>
              </a:r>
            </a:p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9258300"/>
            <a:ext cx="16596360" cy="754380"/>
            <a:chOff x="0" y="0"/>
            <a:chExt cx="22128480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37039" y="0"/>
                  </a:lnTo>
                  <a:cubicBezTo>
                    <a:pt x="22087587" y="0"/>
                    <a:pt x="22128480" y="40894"/>
                    <a:pt x="22128480" y="91440"/>
                  </a:cubicBezTo>
                  <a:lnTo>
                    <a:pt x="22128480" y="914400"/>
                  </a:lnTo>
                  <a:cubicBezTo>
                    <a:pt x="22128480" y="964946"/>
                    <a:pt x="22087587" y="1005840"/>
                    <a:pt x="22037039" y="1005840"/>
                  </a:cubicBezTo>
                  <a:lnTo>
                    <a:pt x="91440" y="1005840"/>
                  </a:lnTo>
                  <a:cubicBezTo>
                    <a:pt x="40894" y="1005840"/>
                    <a:pt x="0" y="964946"/>
                    <a:pt x="0" y="914400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97280" y="9518904"/>
            <a:ext cx="246888" cy="246888"/>
            <a:chOff x="0" y="0"/>
            <a:chExt cx="329184" cy="3291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577340" y="9395460"/>
            <a:ext cx="3566160" cy="480060"/>
            <a:chOff x="0" y="0"/>
            <a:chExt cx="4754880" cy="640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 nodes = Clients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212080" y="9518904"/>
            <a:ext cx="246888" cy="246888"/>
            <a:chOff x="0" y="0"/>
            <a:chExt cx="329184" cy="3291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692140" y="9395460"/>
            <a:ext cx="3566160" cy="480060"/>
            <a:chOff x="0" y="0"/>
            <a:chExt cx="4754880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Dark node = Server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26880" y="9518904"/>
            <a:ext cx="246888" cy="246888"/>
            <a:chOff x="0" y="0"/>
            <a:chExt cx="329184" cy="3291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806940" y="9395460"/>
            <a:ext cx="3566160" cy="480060"/>
            <a:chOff x="0" y="0"/>
            <a:chExt cx="475488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icon = Centralized storage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rot="290640">
            <a:off x="13421820" y="9632823"/>
            <a:ext cx="451190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2" id="92"/>
          <p:cNvGrpSpPr/>
          <p:nvPr/>
        </p:nvGrpSpPr>
        <p:grpSpPr>
          <a:xfrm rot="0">
            <a:off x="13921740" y="9395460"/>
            <a:ext cx="3566160" cy="480060"/>
            <a:chOff x="0" y="0"/>
            <a:chExt cx="4754880" cy="6400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Arrows = Network communication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10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210266" y="1778971"/>
            <a:ext cx="17209054" cy="8233709"/>
          </a:xfrm>
          <a:custGeom>
            <a:avLst/>
            <a:gdLst/>
            <a:ahLst/>
            <a:cxnLst/>
            <a:rect r="r" b="b" t="t" l="l"/>
            <a:pathLst>
              <a:path h="8233709" w="17209054">
                <a:moveTo>
                  <a:pt x="0" y="0"/>
                </a:moveTo>
                <a:lnTo>
                  <a:pt x="17209054" y="0"/>
                </a:lnTo>
                <a:lnTo>
                  <a:pt x="17209054" y="8233709"/>
                </a:lnTo>
                <a:lnTo>
                  <a:pt x="0" y="82337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675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Computer Network Concepts Applied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4046220" cy="3223260"/>
            <a:chOff x="0" y="0"/>
            <a:chExt cx="5394960" cy="429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66010" y="2400300"/>
            <a:ext cx="960120" cy="960120"/>
            <a:chOff x="0" y="0"/>
            <a:chExt cx="12801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90826" y="2525116"/>
            <a:ext cx="710489" cy="710489"/>
            <a:chOff x="0" y="0"/>
            <a:chExt cx="947318" cy="947318"/>
          </a:xfrm>
        </p:grpSpPr>
        <p:sp>
          <p:nvSpPr>
            <p:cNvPr name="Freeform 10" id="10" descr="icons/network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0140" y="3533775"/>
            <a:ext cx="34518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Client–Server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0140" y="4181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clients communicate with a centralized server.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74920" y="2125980"/>
            <a:ext cx="4046220" cy="3223260"/>
            <a:chOff x="0" y="0"/>
            <a:chExt cx="5394960" cy="4297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17970" y="2400300"/>
            <a:ext cx="960120" cy="960120"/>
            <a:chOff x="0" y="0"/>
            <a:chExt cx="12801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42786" y="2525116"/>
            <a:ext cx="710489" cy="710489"/>
            <a:chOff x="0" y="0"/>
            <a:chExt cx="947318" cy="947318"/>
          </a:xfrm>
        </p:grpSpPr>
        <p:sp>
          <p:nvSpPr>
            <p:cNvPr name="Freeform 18" id="18" descr="icons/exchange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372100" y="3533775"/>
            <a:ext cx="34518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TCP/IP Communication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72100" y="4181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Reliable communication between clients and server via TCP/IP suite.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26880" y="2125980"/>
            <a:ext cx="4046220" cy="3223260"/>
            <a:chOff x="0" y="0"/>
            <a:chExt cx="5394960" cy="429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69930" y="2400300"/>
            <a:ext cx="960120" cy="960120"/>
            <a:chOff x="0" y="0"/>
            <a:chExt cx="1280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94746" y="2525116"/>
            <a:ext cx="710489" cy="710489"/>
            <a:chOff x="0" y="0"/>
            <a:chExt cx="947318" cy="947318"/>
          </a:xfrm>
        </p:grpSpPr>
        <p:sp>
          <p:nvSpPr>
            <p:cNvPr name="Freeform 26" id="26" descr="icons/comments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624060" y="3533775"/>
            <a:ext cx="34518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Request–Response Model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4060" y="4181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Clients send requests; server returns appropriate responses.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578840" y="2125980"/>
            <a:ext cx="4046220" cy="3223260"/>
            <a:chOff x="0" y="0"/>
            <a:chExt cx="5394960" cy="429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121890" y="2400300"/>
            <a:ext cx="960120" cy="960120"/>
            <a:chOff x="0" y="0"/>
            <a:chExt cx="12801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246706" y="2525116"/>
            <a:ext cx="710489" cy="710489"/>
            <a:chOff x="0" y="0"/>
            <a:chExt cx="947318" cy="947318"/>
          </a:xfrm>
        </p:grpSpPr>
        <p:sp>
          <p:nvSpPr>
            <p:cNvPr name="Freeform 34" id="34" descr="icons/database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876020" y="3533775"/>
            <a:ext cx="34518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Centralized Data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76020" y="4181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Server provides controlled access to centralized college data.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5554980"/>
            <a:ext cx="4046220" cy="3223260"/>
            <a:chOff x="0" y="0"/>
            <a:chExt cx="5394960" cy="4297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366010" y="5829300"/>
            <a:ext cx="960120" cy="960120"/>
            <a:chOff x="0" y="0"/>
            <a:chExt cx="128016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90826" y="5954116"/>
            <a:ext cx="710489" cy="710489"/>
            <a:chOff x="0" y="0"/>
            <a:chExt cx="947318" cy="947318"/>
          </a:xfrm>
        </p:grpSpPr>
        <p:sp>
          <p:nvSpPr>
            <p:cNvPr name="Freeform 42" id="42" descr="icons/layer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" b="-2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20140" y="6962775"/>
            <a:ext cx="34518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Multiple Clients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0140" y="7610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Several users/terminals can communicate with the server.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074920" y="5554980"/>
            <a:ext cx="4046220" cy="3223260"/>
            <a:chOff x="0" y="0"/>
            <a:chExt cx="5394960" cy="429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17970" y="5829300"/>
            <a:ext cx="960120" cy="960120"/>
            <a:chOff x="0" y="0"/>
            <a:chExt cx="128016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742786" y="5954116"/>
            <a:ext cx="710489" cy="710489"/>
            <a:chOff x="0" y="0"/>
            <a:chExt cx="947318" cy="947318"/>
          </a:xfrm>
        </p:grpSpPr>
        <p:sp>
          <p:nvSpPr>
            <p:cNvPr name="Freeform 50" id="50" descr="icons/usershield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" b="-2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372100" y="6962775"/>
            <a:ext cx="34518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Authentication &amp; Access Control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372100" y="7610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Users receive access according to their assigned roles.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26880" y="5554980"/>
            <a:ext cx="4046220" cy="3223260"/>
            <a:chOff x="0" y="0"/>
            <a:chExt cx="5394960" cy="429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869930" y="582930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94746" y="5954116"/>
            <a:ext cx="710489" cy="710489"/>
            <a:chOff x="0" y="0"/>
            <a:chExt cx="947318" cy="947318"/>
          </a:xfrm>
        </p:grpSpPr>
        <p:sp>
          <p:nvSpPr>
            <p:cNvPr name="Freeform 58" id="58" descr="icons/shield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" b="-2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624060" y="6962775"/>
            <a:ext cx="34518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Network Security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624060" y="7610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and controlled communication protect information.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578840" y="5554980"/>
            <a:ext cx="4046220" cy="3223260"/>
            <a:chOff x="0" y="0"/>
            <a:chExt cx="5394960" cy="429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121890" y="5829300"/>
            <a:ext cx="960120" cy="960120"/>
            <a:chOff x="0" y="0"/>
            <a:chExt cx="128016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246706" y="5954116"/>
            <a:ext cx="710489" cy="710489"/>
            <a:chOff x="0" y="0"/>
            <a:chExt cx="947318" cy="947318"/>
          </a:xfrm>
        </p:grpSpPr>
        <p:sp>
          <p:nvSpPr>
            <p:cNvPr name="Freeform 66" id="66" descr="icons/bolt_white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" b="-2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3876020" y="6962775"/>
            <a:ext cx="34518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Concurrent Communication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76020" y="7610475"/>
            <a:ext cx="34518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B6B76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designed to support requests from multiple users.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College Entities &amp; Network Terminals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8023860" cy="3497580"/>
            <a:chOff x="0" y="0"/>
            <a:chExt cx="10698480" cy="466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517136"/>
                  </a:lnTo>
                  <a:cubicBezTo>
                    <a:pt x="10698480" y="4597908"/>
                    <a:pt x="10632948" y="4663440"/>
                    <a:pt x="1055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246888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3929" y="2566949"/>
            <a:ext cx="558241" cy="558241"/>
            <a:chOff x="0" y="0"/>
            <a:chExt cx="744322" cy="744322"/>
          </a:xfrm>
        </p:grpSpPr>
        <p:sp>
          <p:nvSpPr>
            <p:cNvPr name="Freeform 10" id="10" descr="icons/student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57400" y="1933168"/>
            <a:ext cx="6515100" cy="1825803"/>
            <a:chOff x="0" y="0"/>
            <a:chExt cx="8686800" cy="24344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6800" cy="2434405"/>
            </a:xfrm>
            <a:custGeom>
              <a:avLst/>
              <a:gdLst/>
              <a:ahLst/>
              <a:cxnLst/>
              <a:rect r="r" b="b" t="t" l="l"/>
              <a:pathLst>
                <a:path h="243440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434405"/>
                  </a:lnTo>
                  <a:lnTo>
                    <a:pt x="0" y="2434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" r="0" b="981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686800" cy="2443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Student Terminal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5160" y="2345436"/>
            <a:ext cx="1577340" cy="356616"/>
            <a:chOff x="0" y="0"/>
            <a:chExt cx="2103120" cy="475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" cy="475488"/>
            </a:xfrm>
            <a:custGeom>
              <a:avLst/>
              <a:gdLst/>
              <a:ahLst/>
              <a:cxnLst/>
              <a:rect r="r" b="b" t="t" l="l"/>
              <a:pathLst>
                <a:path h="475488" w="210312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1865376" y="0"/>
                  </a:lnTo>
                  <a:cubicBezTo>
                    <a:pt x="1996694" y="0"/>
                    <a:pt x="2103120" y="106426"/>
                    <a:pt x="2103120" y="237744"/>
                  </a:cubicBezTo>
                  <a:cubicBezTo>
                    <a:pt x="2103120" y="369062"/>
                    <a:pt x="1996694" y="475488"/>
                    <a:pt x="1865376" y="475488"/>
                  </a:cubicBezTo>
                  <a:lnTo>
                    <a:pt x="237744" y="475488"/>
                  </a:ln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34440" y="3381375"/>
            <a:ext cx="72009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information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Marks / results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Timetable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Notices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95460" y="2125980"/>
            <a:ext cx="8023860" cy="3497580"/>
            <a:chOff x="0" y="0"/>
            <a:chExt cx="10698480" cy="466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517136"/>
                  </a:lnTo>
                  <a:cubicBezTo>
                    <a:pt x="10698480" y="4597908"/>
                    <a:pt x="10632948" y="4663440"/>
                    <a:pt x="1055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38360" y="246888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36429" y="2566949"/>
            <a:ext cx="558241" cy="558241"/>
            <a:chOff x="0" y="0"/>
            <a:chExt cx="744322" cy="744322"/>
          </a:xfrm>
        </p:grpSpPr>
        <p:sp>
          <p:nvSpPr>
            <p:cNvPr name="Freeform 22" id="22" descr="icons/faculty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98480" y="1933168"/>
            <a:ext cx="6515100" cy="1825803"/>
            <a:chOff x="0" y="0"/>
            <a:chExt cx="8686800" cy="24344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86800" cy="2434405"/>
            </a:xfrm>
            <a:custGeom>
              <a:avLst/>
              <a:gdLst/>
              <a:ahLst/>
              <a:cxnLst/>
              <a:rect r="r" b="b" t="t" l="l"/>
              <a:pathLst>
                <a:path h="243440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434405"/>
                  </a:lnTo>
                  <a:lnTo>
                    <a:pt x="0" y="2434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" r="0" b="98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686800" cy="2443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Faculty Terminal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567660" y="2345436"/>
            <a:ext cx="1577340" cy="356616"/>
            <a:chOff x="0" y="0"/>
            <a:chExt cx="2103120" cy="4754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3120" cy="475488"/>
            </a:xfrm>
            <a:custGeom>
              <a:avLst/>
              <a:gdLst/>
              <a:ahLst/>
              <a:cxnLst/>
              <a:rect r="r" b="b" t="t" l="l"/>
              <a:pathLst>
                <a:path h="475488" w="210312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1865376" y="0"/>
                  </a:lnTo>
                  <a:cubicBezTo>
                    <a:pt x="1996694" y="0"/>
                    <a:pt x="2103120" y="106426"/>
                    <a:pt x="2103120" y="237744"/>
                  </a:cubicBezTo>
                  <a:cubicBezTo>
                    <a:pt x="2103120" y="369062"/>
                    <a:pt x="1996694" y="475488"/>
                    <a:pt x="1865376" y="475488"/>
                  </a:cubicBezTo>
                  <a:lnTo>
                    <a:pt x="237744" y="475488"/>
                  </a:ln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806940" y="3381375"/>
            <a:ext cx="72009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 management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Marks entry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information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updates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Notices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5966460"/>
            <a:ext cx="8023860" cy="3497580"/>
            <a:chOff x="0" y="0"/>
            <a:chExt cx="10698480" cy="466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517136"/>
                  </a:lnTo>
                  <a:cubicBezTo>
                    <a:pt x="10698480" y="4597908"/>
                    <a:pt x="10632948" y="4663440"/>
                    <a:pt x="1055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630936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63929" y="6407429"/>
            <a:ext cx="558241" cy="558241"/>
            <a:chOff x="0" y="0"/>
            <a:chExt cx="744322" cy="744322"/>
          </a:xfrm>
        </p:grpSpPr>
        <p:sp>
          <p:nvSpPr>
            <p:cNvPr name="Freeform 34" id="34" descr="icons/parent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57400" y="5773648"/>
            <a:ext cx="6515100" cy="1825803"/>
            <a:chOff x="0" y="0"/>
            <a:chExt cx="8686800" cy="24344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86800" cy="2434405"/>
            </a:xfrm>
            <a:custGeom>
              <a:avLst/>
              <a:gdLst/>
              <a:ahLst/>
              <a:cxnLst/>
              <a:rect r="r" b="b" t="t" l="l"/>
              <a:pathLst>
                <a:path h="243440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434405"/>
                  </a:lnTo>
                  <a:lnTo>
                    <a:pt x="0" y="2434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" r="0" b="98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686800" cy="2443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Parent Access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95160" y="6185916"/>
            <a:ext cx="1577340" cy="356616"/>
            <a:chOff x="0" y="0"/>
            <a:chExt cx="2103120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3120" cy="475488"/>
            </a:xfrm>
            <a:custGeom>
              <a:avLst/>
              <a:gdLst/>
              <a:ahLst/>
              <a:cxnLst/>
              <a:rect r="r" b="b" t="t" l="l"/>
              <a:pathLst>
                <a:path h="475488" w="210312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1865376" y="0"/>
                  </a:lnTo>
                  <a:cubicBezTo>
                    <a:pt x="1996694" y="0"/>
                    <a:pt x="2103120" y="106426"/>
                    <a:pt x="2103120" y="237744"/>
                  </a:cubicBezTo>
                  <a:cubicBezTo>
                    <a:pt x="2103120" y="369062"/>
                    <a:pt x="1996694" y="475488"/>
                    <a:pt x="1865376" y="475488"/>
                  </a:cubicBezTo>
                  <a:lnTo>
                    <a:pt x="237744" y="475488"/>
                  </a:ln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34440" y="7221855"/>
            <a:ext cx="72009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academic info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Notices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95460" y="5966460"/>
            <a:ext cx="8023860" cy="3497580"/>
            <a:chOff x="0" y="0"/>
            <a:chExt cx="10698480" cy="466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9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4517136"/>
                  </a:lnTo>
                  <a:cubicBezTo>
                    <a:pt x="10698480" y="4597908"/>
                    <a:pt x="10632948" y="4663440"/>
                    <a:pt x="1055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38360" y="630936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36429" y="6407429"/>
            <a:ext cx="558241" cy="558241"/>
            <a:chOff x="0" y="0"/>
            <a:chExt cx="744322" cy="744322"/>
          </a:xfrm>
        </p:grpSpPr>
        <p:sp>
          <p:nvSpPr>
            <p:cNvPr name="Freeform 46" id="46" descr="icons/admin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29900" y="5773648"/>
            <a:ext cx="6515100" cy="1825803"/>
            <a:chOff x="0" y="0"/>
            <a:chExt cx="8686800" cy="243440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86800" cy="2434405"/>
            </a:xfrm>
            <a:custGeom>
              <a:avLst/>
              <a:gdLst/>
              <a:ahLst/>
              <a:cxnLst/>
              <a:rect r="r" b="b" t="t" l="l"/>
              <a:pathLst>
                <a:path h="243440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434405"/>
                  </a:lnTo>
                  <a:lnTo>
                    <a:pt x="0" y="2434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" r="0" b="9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686800" cy="2443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Administration / Office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567660" y="6185916"/>
            <a:ext cx="1577340" cy="356616"/>
            <a:chOff x="0" y="0"/>
            <a:chExt cx="2103120" cy="4754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03120" cy="475488"/>
            </a:xfrm>
            <a:custGeom>
              <a:avLst/>
              <a:gdLst/>
              <a:ahLst/>
              <a:cxnLst/>
              <a:rect r="r" b="b" t="t" l="l"/>
              <a:pathLst>
                <a:path h="475488" w="210312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1865376" y="0"/>
                  </a:lnTo>
                  <a:cubicBezTo>
                    <a:pt x="1996694" y="0"/>
                    <a:pt x="2103120" y="106426"/>
                    <a:pt x="2103120" y="237744"/>
                  </a:cubicBezTo>
                  <a:cubicBezTo>
                    <a:pt x="2103120" y="369062"/>
                    <a:pt x="1996694" y="475488"/>
                    <a:pt x="1865376" y="475488"/>
                  </a:cubicBezTo>
                  <a:lnTo>
                    <a:pt x="237744" y="475488"/>
                  </a:ln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E6F1F5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806940" y="7221855"/>
            <a:ext cx="72009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records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administration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General management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Core Functionalities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3977640" cy="4114800"/>
            <a:chOff x="0" y="0"/>
            <a:chExt cx="5303520" cy="548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035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340096"/>
                  </a:lnTo>
                  <a:cubicBezTo>
                    <a:pt x="5303520" y="5420868"/>
                    <a:pt x="5237988" y="5486400"/>
                    <a:pt x="51572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72868" y="2400300"/>
            <a:ext cx="877824" cy="877824"/>
            <a:chOff x="0" y="0"/>
            <a:chExt cx="1170432" cy="1170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86987" y="2514419"/>
            <a:ext cx="649586" cy="649586"/>
            <a:chOff x="0" y="0"/>
            <a:chExt cx="866115" cy="866115"/>
          </a:xfrm>
        </p:grpSpPr>
        <p:sp>
          <p:nvSpPr>
            <p:cNvPr name="Freeform 10" id="10" descr="icons/clipboard_white.png"/>
            <p:cNvSpPr/>
            <p:nvPr/>
          </p:nvSpPr>
          <p:spPr>
            <a:xfrm flipH="false" flipV="false" rot="0">
              <a:off x="0" y="0"/>
              <a:ext cx="866140" cy="866140"/>
            </a:xfrm>
            <a:custGeom>
              <a:avLst/>
              <a:gdLst/>
              <a:ahLst/>
              <a:cxnLst/>
              <a:rect r="r" b="b" t="t" l="l"/>
              <a:pathLst>
                <a:path h="866140" w="866140">
                  <a:moveTo>
                    <a:pt x="0" y="0"/>
                  </a:moveTo>
                  <a:lnTo>
                    <a:pt x="866140" y="0"/>
                  </a:lnTo>
                  <a:lnTo>
                    <a:pt x="866140" y="866140"/>
                  </a:lnTo>
                  <a:lnTo>
                    <a:pt x="0" y="866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8992" y="3465195"/>
            <a:ext cx="346557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Academic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4204335"/>
            <a:ext cx="3429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records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Marks / results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Timetable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Course / subject info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20056" y="2125980"/>
            <a:ext cx="3977640" cy="4114800"/>
            <a:chOff x="0" y="0"/>
            <a:chExt cx="5303520" cy="548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035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340096"/>
                  </a:lnTo>
                  <a:cubicBezTo>
                    <a:pt x="5303520" y="5420868"/>
                    <a:pt x="5237988" y="5486400"/>
                    <a:pt x="51572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69964" y="2400300"/>
            <a:ext cx="877824" cy="877824"/>
            <a:chOff x="0" y="0"/>
            <a:chExt cx="1170432" cy="1170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84083" y="2514419"/>
            <a:ext cx="649586" cy="649586"/>
            <a:chOff x="0" y="0"/>
            <a:chExt cx="866115" cy="866115"/>
          </a:xfrm>
        </p:grpSpPr>
        <p:sp>
          <p:nvSpPr>
            <p:cNvPr name="Freeform 18" id="18" descr="icons/comments_white.png"/>
            <p:cNvSpPr/>
            <p:nvPr/>
          </p:nvSpPr>
          <p:spPr>
            <a:xfrm flipH="false" flipV="false" rot="0">
              <a:off x="0" y="0"/>
              <a:ext cx="866140" cy="866140"/>
            </a:xfrm>
            <a:custGeom>
              <a:avLst/>
              <a:gdLst/>
              <a:ahLst/>
              <a:cxnLst/>
              <a:rect r="r" b="b" t="t" l="l"/>
              <a:pathLst>
                <a:path h="866140" w="866140">
                  <a:moveTo>
                    <a:pt x="0" y="0"/>
                  </a:moveTo>
                  <a:lnTo>
                    <a:pt x="866140" y="0"/>
                  </a:lnTo>
                  <a:lnTo>
                    <a:pt x="866140" y="866140"/>
                  </a:lnTo>
                  <a:lnTo>
                    <a:pt x="0" y="866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276088" y="3465195"/>
            <a:ext cx="346557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Communication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94376" y="4204335"/>
            <a:ext cx="3429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Notices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Announcements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Notifications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Faculty–student communication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17152" y="2125980"/>
            <a:ext cx="3977640" cy="4114800"/>
            <a:chOff x="0" y="0"/>
            <a:chExt cx="5303520" cy="548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35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340096"/>
                  </a:lnTo>
                  <a:cubicBezTo>
                    <a:pt x="5303520" y="5420868"/>
                    <a:pt x="5237988" y="5486400"/>
                    <a:pt x="51572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67060" y="2400300"/>
            <a:ext cx="877824" cy="877824"/>
            <a:chOff x="0" y="0"/>
            <a:chExt cx="11704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81179" y="2514419"/>
            <a:ext cx="649586" cy="649586"/>
            <a:chOff x="0" y="0"/>
            <a:chExt cx="866115" cy="866115"/>
          </a:xfrm>
        </p:grpSpPr>
        <p:sp>
          <p:nvSpPr>
            <p:cNvPr name="Freeform 26" id="26" descr="icons/admin_white.png"/>
            <p:cNvSpPr/>
            <p:nvPr/>
          </p:nvSpPr>
          <p:spPr>
            <a:xfrm flipH="false" flipV="false" rot="0">
              <a:off x="0" y="0"/>
              <a:ext cx="866140" cy="866140"/>
            </a:xfrm>
            <a:custGeom>
              <a:avLst/>
              <a:gdLst/>
              <a:ahLst/>
              <a:cxnLst/>
              <a:rect r="r" b="b" t="t" l="l"/>
              <a:pathLst>
                <a:path h="866140" w="866140">
                  <a:moveTo>
                    <a:pt x="0" y="0"/>
                  </a:moveTo>
                  <a:lnTo>
                    <a:pt x="866140" y="0"/>
                  </a:lnTo>
                  <a:lnTo>
                    <a:pt x="866140" y="866140"/>
                  </a:lnTo>
                  <a:lnTo>
                    <a:pt x="0" y="866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473184" y="3465195"/>
            <a:ext cx="346557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Administrative Management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91472" y="4204335"/>
            <a:ext cx="3429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registration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Faculty information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information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14248" y="2125980"/>
            <a:ext cx="3977640" cy="4114800"/>
            <a:chOff x="0" y="0"/>
            <a:chExt cx="5303520" cy="548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340096"/>
                  </a:lnTo>
                  <a:cubicBezTo>
                    <a:pt x="5303520" y="5420868"/>
                    <a:pt x="5237988" y="5486400"/>
                    <a:pt x="51572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964156" y="2400300"/>
            <a:ext cx="877824" cy="877824"/>
            <a:chOff x="0" y="0"/>
            <a:chExt cx="1170432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078275" y="2514419"/>
            <a:ext cx="649586" cy="649586"/>
            <a:chOff x="0" y="0"/>
            <a:chExt cx="866115" cy="866115"/>
          </a:xfrm>
        </p:grpSpPr>
        <p:sp>
          <p:nvSpPr>
            <p:cNvPr name="Freeform 34" id="34" descr="icons/usershield_white.png"/>
            <p:cNvSpPr/>
            <p:nvPr/>
          </p:nvSpPr>
          <p:spPr>
            <a:xfrm flipH="false" flipV="false" rot="0">
              <a:off x="0" y="0"/>
              <a:ext cx="866140" cy="866140"/>
            </a:xfrm>
            <a:custGeom>
              <a:avLst/>
              <a:gdLst/>
              <a:ahLst/>
              <a:cxnLst/>
              <a:rect r="r" b="b" t="t" l="l"/>
              <a:pathLst>
                <a:path h="866140" w="866140">
                  <a:moveTo>
                    <a:pt x="0" y="0"/>
                  </a:moveTo>
                  <a:lnTo>
                    <a:pt x="866140" y="0"/>
                  </a:lnTo>
                  <a:lnTo>
                    <a:pt x="866140" y="866140"/>
                  </a:lnTo>
                  <a:lnTo>
                    <a:pt x="0" y="866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670280" y="3465195"/>
            <a:ext cx="346557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User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88568" y="4204335"/>
            <a:ext cx="34290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Login / authentication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access</a:t>
            </a:r>
          </a:p>
          <a:p>
            <a:pPr algn="l" marL="452437" indent="-226219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User-specific dashboards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6789420"/>
            <a:ext cx="16596360" cy="2263140"/>
            <a:chOff x="0" y="0"/>
            <a:chExt cx="22128480" cy="3017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871216"/>
                  </a:lnTo>
                  <a:cubicBezTo>
                    <a:pt x="22128480" y="2951988"/>
                    <a:pt x="22062948" y="3017520"/>
                    <a:pt x="21982176" y="3017520"/>
                  </a:cubicBezTo>
                  <a:lnTo>
                    <a:pt x="146304" y="3017520"/>
                  </a:lnTo>
                  <a:cubicBezTo>
                    <a:pt x="65532" y="3017520"/>
                    <a:pt x="0" y="2951988"/>
                    <a:pt x="0" y="28712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7475220"/>
            <a:ext cx="2400300" cy="891540"/>
            <a:chOff x="0" y="0"/>
            <a:chExt cx="3200400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7475220"/>
            <a:ext cx="2400300" cy="891540"/>
            <a:chOff x="0" y="0"/>
            <a:chExt cx="320040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Login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3771900" y="7920990"/>
            <a:ext cx="274320" cy="0"/>
          </a:xfrm>
          <a:prstGeom prst="line">
            <a:avLst/>
          </a:prstGeom>
          <a:ln cap="rnd" w="19050">
            <a:solidFill>
              <a:srgbClr val="AFC9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4046220" y="7475220"/>
            <a:ext cx="2400300" cy="891540"/>
            <a:chOff x="0" y="0"/>
            <a:chExt cx="320040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046220" y="7475220"/>
            <a:ext cx="2400300" cy="891540"/>
            <a:chOff x="0" y="0"/>
            <a:chExt cx="320040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6446520" y="7920990"/>
            <a:ext cx="274320" cy="0"/>
          </a:xfrm>
          <a:prstGeom prst="line">
            <a:avLst/>
          </a:prstGeom>
          <a:ln cap="rnd" w="19050">
            <a:solidFill>
              <a:srgbClr val="AFC9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6720840" y="7475220"/>
            <a:ext cx="2400300" cy="891540"/>
            <a:chOff x="0" y="0"/>
            <a:chExt cx="320040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720840" y="7475220"/>
            <a:ext cx="2400300" cy="891540"/>
            <a:chOff x="0" y="0"/>
            <a:chExt cx="3200400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Identification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flipV="true">
            <a:off x="9121140" y="7920990"/>
            <a:ext cx="274320" cy="0"/>
          </a:xfrm>
          <a:prstGeom prst="line">
            <a:avLst/>
          </a:prstGeom>
          <a:ln cap="rnd" w="19050">
            <a:solidFill>
              <a:srgbClr val="AFC9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9395460" y="7475220"/>
            <a:ext cx="2400300" cy="891540"/>
            <a:chOff x="0" y="0"/>
            <a:chExt cx="3200400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95460" y="7475220"/>
            <a:ext cx="2400300" cy="891540"/>
            <a:chOff x="0" y="0"/>
            <a:chExt cx="320040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Request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>
            <a:off x="11795760" y="7920990"/>
            <a:ext cx="274320" cy="0"/>
          </a:xfrm>
          <a:prstGeom prst="line">
            <a:avLst/>
          </a:prstGeom>
          <a:ln cap="rnd" w="19050">
            <a:solidFill>
              <a:srgbClr val="AFC9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3" id="63"/>
          <p:cNvGrpSpPr/>
          <p:nvPr/>
        </p:nvGrpSpPr>
        <p:grpSpPr>
          <a:xfrm rot="0">
            <a:off x="12070080" y="7475220"/>
            <a:ext cx="2400300" cy="891540"/>
            <a:chOff x="0" y="0"/>
            <a:chExt cx="3200400" cy="1188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070080" y="7475220"/>
            <a:ext cx="2400300" cy="891540"/>
            <a:chOff x="0" y="0"/>
            <a:chExt cx="3200400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flipV="true">
            <a:off x="14470380" y="7920990"/>
            <a:ext cx="274320" cy="0"/>
          </a:xfrm>
          <a:prstGeom prst="line">
            <a:avLst/>
          </a:prstGeom>
          <a:ln cap="rnd" w="19050">
            <a:solidFill>
              <a:srgbClr val="AFC9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9" id="69"/>
          <p:cNvGrpSpPr/>
          <p:nvPr/>
        </p:nvGrpSpPr>
        <p:grpSpPr>
          <a:xfrm rot="0">
            <a:off x="14744700" y="7475220"/>
            <a:ext cx="2400300" cy="891540"/>
            <a:chOff x="0" y="0"/>
            <a:chExt cx="3200400" cy="11887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651760" y="0"/>
                  </a:lnTo>
                  <a:cubicBezTo>
                    <a:pt x="2954782" y="0"/>
                    <a:pt x="3200400" y="245618"/>
                    <a:pt x="3200400" y="548640"/>
                  </a:cubicBezTo>
                  <a:lnTo>
                    <a:pt x="3200400" y="640080"/>
                  </a:lnTo>
                  <a:cubicBezTo>
                    <a:pt x="3200400" y="943102"/>
                    <a:pt x="2954782" y="1188720"/>
                    <a:pt x="2651760" y="1188720"/>
                  </a:cubicBezTo>
                  <a:lnTo>
                    <a:pt x="548640" y="1188720"/>
                  </a:lnTo>
                  <a:cubicBezTo>
                    <a:pt x="245618" y="1188720"/>
                    <a:pt x="0" y="943102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744700" y="7475220"/>
            <a:ext cx="2400300" cy="891540"/>
            <a:chOff x="0" y="0"/>
            <a:chExt cx="3200400" cy="1188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00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2004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 to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Network Security, Testing &amp; Reliability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5280660" cy="6309360"/>
            <a:chOff x="0" y="0"/>
            <a:chExt cx="7040880" cy="8412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8266176"/>
                  </a:lnTo>
                  <a:cubicBezTo>
                    <a:pt x="7040880" y="8346948"/>
                    <a:pt x="6975348" y="8412480"/>
                    <a:pt x="689457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246888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3929" y="2566949"/>
            <a:ext cx="558241" cy="558241"/>
            <a:chOff x="0" y="0"/>
            <a:chExt cx="744322" cy="744322"/>
          </a:xfrm>
        </p:grpSpPr>
        <p:sp>
          <p:nvSpPr>
            <p:cNvPr name="Freeform 10" id="10" descr="icons/shield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86915" y="1744872"/>
            <a:ext cx="3771900" cy="2202396"/>
            <a:chOff x="0" y="0"/>
            <a:chExt cx="5029200" cy="2936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29200" cy="2936528"/>
            </a:xfrm>
            <a:custGeom>
              <a:avLst/>
              <a:gdLst/>
              <a:ahLst/>
              <a:cxnLst/>
              <a:rect r="r" b="b" t="t" l="l"/>
              <a:pathLst>
                <a:path h="293652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7" r="0" b="4794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029200" cy="2955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Security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4440" y="3430905"/>
            <a:ext cx="445770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User authentication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authorization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Controlled database access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handling of credentials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Protection of academic information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377940" y="2125980"/>
            <a:ext cx="5280660" cy="6309360"/>
            <a:chOff x="0" y="0"/>
            <a:chExt cx="7040880" cy="8412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08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8266176"/>
                  </a:lnTo>
                  <a:cubicBezTo>
                    <a:pt x="7040880" y="8346948"/>
                    <a:pt x="6975348" y="8412480"/>
                    <a:pt x="689457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20840" y="246888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18909" y="2566949"/>
            <a:ext cx="558241" cy="558241"/>
            <a:chOff x="0" y="0"/>
            <a:chExt cx="744322" cy="744322"/>
          </a:xfrm>
        </p:grpSpPr>
        <p:sp>
          <p:nvSpPr>
            <p:cNvPr name="Freeform 20" id="20" descr="icons/vial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541895" y="1744872"/>
            <a:ext cx="3771900" cy="2202396"/>
            <a:chOff x="0" y="0"/>
            <a:chExt cx="5029200" cy="29365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9200" cy="2936528"/>
            </a:xfrm>
            <a:custGeom>
              <a:avLst/>
              <a:gdLst/>
              <a:ahLst/>
              <a:cxnLst/>
              <a:rect r="r" b="b" t="t" l="l"/>
              <a:pathLst>
                <a:path h="293652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7" r="0" b="4794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029200" cy="2955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Network Testing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789420" y="3430905"/>
            <a:ext cx="445770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Client–server connectivity testing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Request / response testing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Multiple-client testing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Input validation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Error handling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consistency testing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32920" y="2125980"/>
            <a:ext cx="5280660" cy="6309360"/>
            <a:chOff x="0" y="0"/>
            <a:chExt cx="7040880" cy="8412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08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8266176"/>
                  </a:lnTo>
                  <a:cubicBezTo>
                    <a:pt x="7040880" y="8346948"/>
                    <a:pt x="6975348" y="8412480"/>
                    <a:pt x="689457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75820" y="246888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73889" y="2566949"/>
            <a:ext cx="558241" cy="558241"/>
            <a:chOff x="0" y="0"/>
            <a:chExt cx="744322" cy="744322"/>
          </a:xfrm>
        </p:grpSpPr>
        <p:sp>
          <p:nvSpPr>
            <p:cNvPr name="Freeform 30" id="30" descr="icons/sync_whit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96875" y="1744872"/>
            <a:ext cx="3771900" cy="2202396"/>
            <a:chOff x="0" y="0"/>
            <a:chExt cx="5029200" cy="2936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9200" cy="2936528"/>
            </a:xfrm>
            <a:custGeom>
              <a:avLst/>
              <a:gdLst/>
              <a:ahLst/>
              <a:cxnLst/>
              <a:rect r="r" b="b" t="t" l="l"/>
              <a:pathLst>
                <a:path h="293652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7" r="0" b="479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029200" cy="2955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Reliability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344400" y="3430905"/>
            <a:ext cx="4457700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Handling of failed requests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Server-side validation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Controlled access to resources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Recovery from communication errors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10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353" y="451216"/>
            <a:ext cx="16596360" cy="960120"/>
            <a:chOff x="0" y="0"/>
            <a:chExt cx="2212848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Goals, Future Scope &amp;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920240"/>
            <a:ext cx="16596360" cy="1303020"/>
            <a:chOff x="0" y="0"/>
            <a:chExt cx="2212848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591056"/>
                  </a:lnTo>
                  <a:cubicBezTo>
                    <a:pt x="22128480" y="1671828"/>
                    <a:pt x="22062948" y="1737360"/>
                    <a:pt x="219821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1353" y="1763761"/>
            <a:ext cx="15773400" cy="1303020"/>
            <a:chOff x="0" y="0"/>
            <a:chExt cx="21031200" cy="1737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0C4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Goal:  </a:t>
              </a: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 how Computer Networks can be applied to build a centralized, multi-user Educational Management System.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71353" y="2015521"/>
            <a:ext cx="13445568" cy="2538644"/>
            <a:chOff x="0" y="0"/>
            <a:chExt cx="17927424" cy="33848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27424" cy="3384859"/>
            </a:xfrm>
            <a:custGeom>
              <a:avLst/>
              <a:gdLst/>
              <a:ahLst/>
              <a:cxnLst/>
              <a:rect r="r" b="b" t="t" l="l"/>
              <a:pathLst>
                <a:path h="3384859" w="17927424">
                  <a:moveTo>
                    <a:pt x="0" y="0"/>
                  </a:moveTo>
                  <a:lnTo>
                    <a:pt x="17927424" y="0"/>
                  </a:lnTo>
                  <a:lnTo>
                    <a:pt x="17927424" y="3384859"/>
                  </a:lnTo>
                  <a:lnTo>
                    <a:pt x="0" y="33848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59" r="38793" b="260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927424" cy="3394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0C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Scope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481" y="3783725"/>
            <a:ext cx="806734" cy="712995"/>
            <a:chOff x="0" y="0"/>
            <a:chExt cx="1075645" cy="9506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71353" y="3876412"/>
            <a:ext cx="596989" cy="527622"/>
            <a:chOff x="0" y="0"/>
            <a:chExt cx="795986" cy="703496"/>
          </a:xfrm>
        </p:grpSpPr>
        <p:sp>
          <p:nvSpPr>
            <p:cNvPr name="Freeform 16" id="16" descr="icons/rocket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73" r="-5" b="-657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7308" y="3724309"/>
            <a:ext cx="5826413" cy="831828"/>
            <a:chOff x="0" y="0"/>
            <a:chExt cx="7768550" cy="1109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application clients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25404" y="3783725"/>
            <a:ext cx="806734" cy="712995"/>
            <a:chOff x="0" y="0"/>
            <a:chExt cx="1075645" cy="950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30277" y="3876412"/>
            <a:ext cx="596989" cy="527622"/>
            <a:chOff x="0" y="0"/>
            <a:chExt cx="795986" cy="703496"/>
          </a:xfrm>
        </p:grpSpPr>
        <p:sp>
          <p:nvSpPr>
            <p:cNvPr name="Freeform 23" id="23" descr="icons/network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573" r="-5" b="-657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56231" y="3724309"/>
            <a:ext cx="5826413" cy="831828"/>
            <a:chOff x="0" y="0"/>
            <a:chExt cx="7768550" cy="1109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Web-based access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6481" y="4813607"/>
            <a:ext cx="806734" cy="712995"/>
            <a:chOff x="0" y="0"/>
            <a:chExt cx="1075645" cy="9506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71353" y="4906294"/>
            <a:ext cx="596989" cy="527622"/>
            <a:chOff x="0" y="0"/>
            <a:chExt cx="795986" cy="703496"/>
          </a:xfrm>
        </p:grpSpPr>
        <p:sp>
          <p:nvSpPr>
            <p:cNvPr name="Freeform 30" id="30" descr="icons/lock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573" r="-5" b="-657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97308" y="4754191"/>
            <a:ext cx="5826413" cy="831828"/>
            <a:chOff x="0" y="0"/>
            <a:chExt cx="7768550" cy="11091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encrypted communication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725404" y="4813607"/>
            <a:ext cx="806734" cy="712995"/>
            <a:chOff x="0" y="0"/>
            <a:chExt cx="1075645" cy="9506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830277" y="4906294"/>
            <a:ext cx="596989" cy="527622"/>
            <a:chOff x="0" y="0"/>
            <a:chExt cx="795986" cy="703496"/>
          </a:xfrm>
        </p:grpSpPr>
        <p:sp>
          <p:nvSpPr>
            <p:cNvPr name="Freeform 37" id="37" descr="icons/database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573" r="-5" b="-657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56231" y="4754191"/>
            <a:ext cx="5826413" cy="831828"/>
            <a:chOff x="0" y="0"/>
            <a:chExt cx="7768550" cy="11091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deployment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6481" y="5843489"/>
            <a:ext cx="806734" cy="712995"/>
            <a:chOff x="0" y="0"/>
            <a:chExt cx="1075645" cy="9506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71353" y="5936176"/>
            <a:ext cx="596989" cy="527622"/>
            <a:chOff x="0" y="0"/>
            <a:chExt cx="795986" cy="703496"/>
          </a:xfrm>
        </p:grpSpPr>
        <p:sp>
          <p:nvSpPr>
            <p:cNvPr name="Freeform 44" id="44" descr="icons/exchange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573" r="-5" b="-6579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97308" y="5784073"/>
            <a:ext cx="5826413" cy="831828"/>
            <a:chOff x="0" y="0"/>
            <a:chExt cx="7768550" cy="11091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Remote access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25404" y="5843489"/>
            <a:ext cx="806734" cy="712995"/>
            <a:chOff x="0" y="0"/>
            <a:chExt cx="1075645" cy="9506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830277" y="5936176"/>
            <a:ext cx="596989" cy="527622"/>
            <a:chOff x="0" y="0"/>
            <a:chExt cx="795986" cy="703496"/>
          </a:xfrm>
        </p:grpSpPr>
        <p:sp>
          <p:nvSpPr>
            <p:cNvPr name="Freeform 51" id="51" descr="icons/bell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73" r="-5" b="-657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756231" y="5784073"/>
            <a:ext cx="5826413" cy="831828"/>
            <a:chOff x="0" y="0"/>
            <a:chExt cx="7768550" cy="11091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 notification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66481" y="6873371"/>
            <a:ext cx="806734" cy="712995"/>
            <a:chOff x="0" y="0"/>
            <a:chExt cx="1075645" cy="9506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71353" y="6966058"/>
            <a:ext cx="596989" cy="527622"/>
            <a:chOff x="0" y="0"/>
            <a:chExt cx="795986" cy="703496"/>
          </a:xfrm>
        </p:grpSpPr>
        <p:sp>
          <p:nvSpPr>
            <p:cNvPr name="Freeform 58" id="58" descr="icons/layer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573" r="-5" b="-6579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97308" y="6813955"/>
            <a:ext cx="5826413" cy="831828"/>
            <a:chOff x="0" y="0"/>
            <a:chExt cx="7768550" cy="11091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with additional college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25404" y="6873371"/>
            <a:ext cx="806734" cy="712995"/>
            <a:chOff x="0" y="0"/>
            <a:chExt cx="1075645" cy="9506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5645" cy="950660"/>
            </a:xfrm>
            <a:custGeom>
              <a:avLst/>
              <a:gdLst/>
              <a:ahLst/>
              <a:cxnLst/>
              <a:rect r="r" b="b" t="t" l="l"/>
              <a:pathLst>
                <a:path h="950660" w="1075645">
                  <a:moveTo>
                    <a:pt x="0" y="475330"/>
                  </a:moveTo>
                  <a:cubicBezTo>
                    <a:pt x="0" y="212725"/>
                    <a:pt x="240692" y="0"/>
                    <a:pt x="537823" y="0"/>
                  </a:cubicBezTo>
                  <a:cubicBezTo>
                    <a:pt x="834953" y="0"/>
                    <a:pt x="1075645" y="212725"/>
                    <a:pt x="1075645" y="475330"/>
                  </a:cubicBezTo>
                  <a:cubicBezTo>
                    <a:pt x="1075645" y="737935"/>
                    <a:pt x="834953" y="950660"/>
                    <a:pt x="537823" y="950660"/>
                  </a:cubicBezTo>
                  <a:cubicBezTo>
                    <a:pt x="240692" y="950660"/>
                    <a:pt x="0" y="737935"/>
                    <a:pt x="0" y="475330"/>
                  </a:cubicBezTo>
                  <a:close/>
                </a:path>
              </a:pathLst>
            </a:custGeom>
            <a:solidFill>
              <a:srgbClr val="1B2E5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30277" y="6966058"/>
            <a:ext cx="596989" cy="527622"/>
            <a:chOff x="0" y="0"/>
            <a:chExt cx="795986" cy="703496"/>
          </a:xfrm>
        </p:grpSpPr>
        <p:sp>
          <p:nvSpPr>
            <p:cNvPr name="Freeform 65" id="65" descr="icons/bolt_teal.png"/>
            <p:cNvSpPr/>
            <p:nvPr/>
          </p:nvSpPr>
          <p:spPr>
            <a:xfrm flipH="false" flipV="false" rot="0">
              <a:off x="0" y="0"/>
              <a:ext cx="795944" cy="703459"/>
            </a:xfrm>
            <a:custGeom>
              <a:avLst/>
              <a:gdLst/>
              <a:ahLst/>
              <a:cxnLst/>
              <a:rect r="r" b="b" t="t" l="l"/>
              <a:pathLst>
                <a:path h="703459" w="795944">
                  <a:moveTo>
                    <a:pt x="0" y="0"/>
                  </a:moveTo>
                  <a:lnTo>
                    <a:pt x="795944" y="0"/>
                  </a:lnTo>
                  <a:lnTo>
                    <a:pt x="795944" y="703459"/>
                  </a:lnTo>
                  <a:lnTo>
                    <a:pt x="0" y="70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573" r="-5" b="-657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756231" y="6813955"/>
            <a:ext cx="5826413" cy="831828"/>
            <a:chOff x="0" y="0"/>
            <a:chExt cx="7768550" cy="11091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768551" cy="1109104"/>
            </a:xfrm>
            <a:custGeom>
              <a:avLst/>
              <a:gdLst/>
              <a:ahLst/>
              <a:cxnLst/>
              <a:rect r="r" b="b" t="t" l="l"/>
              <a:pathLst>
                <a:path h="1109104" w="7768551">
                  <a:moveTo>
                    <a:pt x="0" y="0"/>
                  </a:moveTo>
                  <a:lnTo>
                    <a:pt x="7768551" y="0"/>
                  </a:lnTo>
                  <a:lnTo>
                    <a:pt x="7768551" y="1109104"/>
                  </a:lnTo>
                  <a:lnTo>
                    <a:pt x="0" y="1109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" r="38793" b="-1816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7768550" cy="1156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D6E4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scalability for more users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213580" y="9806940"/>
            <a:ext cx="960120" cy="411480"/>
            <a:chOff x="0" y="0"/>
            <a:chExt cx="128016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2801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7637" y="2578801"/>
            <a:ext cx="9601200" cy="5129397"/>
            <a:chOff x="0" y="0"/>
            <a:chExt cx="12801600" cy="6839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839196"/>
            </a:xfrm>
            <a:custGeom>
              <a:avLst/>
              <a:gdLst/>
              <a:ahLst/>
              <a:cxnLst/>
              <a:rect r="r" b="b" t="t" l="l"/>
              <a:pathLst>
                <a:path h="683919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839196"/>
                  </a:lnTo>
                  <a:lnTo>
                    <a:pt x="0" y="6839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50" r="0" b="5550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801600" cy="6848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DAHWF58TefU</dc:identifier>
  <dcterms:modified xsi:type="dcterms:W3CDTF">2011-08-01T06:04:30Z</dcterms:modified>
  <cp:revision>1</cp:revision>
  <dc:title>Educational_Management_System_ECT423.pptx</dc:title>
</cp:coreProperties>
</file>